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2"/>
  </p:normalViewPr>
  <p:slideViewPr>
    <p:cSldViewPr snapToGrid="0" snapToObjects="1">
      <p:cViewPr varScale="1">
        <p:scale>
          <a:sx n="90" d="100"/>
          <a:sy n="90" d="100"/>
        </p:scale>
        <p:origin x="23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Allowed an increased</a:t>
            </a:r>
            <a:r>
              <a:rPr lang="en-US" baseline="0" dirty="0"/>
              <a:t> tolerance for a higher individual debt-to-income ratio for approved loans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126930644853479"/>
          <c:y val="0.29363431272733798"/>
          <c:w val="0.80704953874229324"/>
          <c:h val="0.55414983054872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Debt to Income 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53E-404F-BF17-D3A1AFFD882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53E-404F-BF17-D3A1AFFD882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3E-404F-BF17-D3A1AFFD882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3E-404F-BF17-D3A1AFFD882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53E-404F-BF17-D3A1AFFD882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53E-404F-BF17-D3A1AFFD882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53E-404F-BF17-D3A1AFFD88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Sheet1!$B$2:$B$13</c:f>
              <c:numCache>
                <c:formatCode>0.0%</c:formatCode>
                <c:ptCount val="12"/>
                <c:pt idx="0">
                  <c:v>0.1</c:v>
                </c:pt>
                <c:pt idx="1">
                  <c:v>0.13100000000000001</c:v>
                </c:pt>
                <c:pt idx="2">
                  <c:v>0.12590000000000001</c:v>
                </c:pt>
                <c:pt idx="3">
                  <c:v>0.13239999999999999</c:v>
                </c:pt>
                <c:pt idx="4">
                  <c:v>0.13919999999999999</c:v>
                </c:pt>
                <c:pt idx="5">
                  <c:v>0.1648</c:v>
                </c:pt>
                <c:pt idx="6">
                  <c:v>0.16889999999999999</c:v>
                </c:pt>
                <c:pt idx="7">
                  <c:v>0.17630000000000001</c:v>
                </c:pt>
                <c:pt idx="8">
                  <c:v>0.186</c:v>
                </c:pt>
                <c:pt idx="9">
                  <c:v>0.1822</c:v>
                </c:pt>
                <c:pt idx="10">
                  <c:v>0.17979999999999999</c:v>
                </c:pt>
                <c:pt idx="11">
                  <c:v>0.17710000000000001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53E-404F-BF17-D3A1AFFD88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9350224"/>
        <c:axId val="959351872"/>
      </c:barChart>
      <c:catAx>
        <c:axId val="95935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1872"/>
        <c:crosses val="autoZero"/>
        <c:auto val="1"/>
        <c:lblAlgn val="ctr"/>
        <c:lblOffset val="100"/>
        <c:noMultiLvlLbl val="0"/>
      </c:catAx>
      <c:valAx>
        <c:axId val="95935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Constant</a:t>
            </a:r>
            <a:r>
              <a:rPr lang="en-US" baseline="0" dirty="0"/>
              <a:t> increase in approved loans each year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904391616931239"/>
          <c:y val="0.26990081030580393"/>
          <c:w val="0.80704953874229324"/>
          <c:h val="0.55414983054872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Loans Approved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22-524B-A5A7-9B631D4D757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22-524B-A5A7-9B631D4D757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22-524B-A5A7-9B631D4D757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22-524B-A5A7-9B631D4D757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922-524B-A5A7-9B631D4D757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22-524B-A5A7-9B631D4D757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922-524B-A5A7-9B631D4D757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922-524B-A5A7-9B631D4D757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603</c:v>
                </c:pt>
                <c:pt idx="1">
                  <c:v>2393</c:v>
                </c:pt>
                <c:pt idx="2">
                  <c:v>5281</c:v>
                </c:pt>
                <c:pt idx="3">
                  <c:v>12537</c:v>
                </c:pt>
                <c:pt idx="4">
                  <c:v>21721</c:v>
                </c:pt>
                <c:pt idx="5">
                  <c:v>53367</c:v>
                </c:pt>
                <c:pt idx="6">
                  <c:v>134814</c:v>
                </c:pt>
                <c:pt idx="7">
                  <c:v>235629</c:v>
                </c:pt>
                <c:pt idx="8">
                  <c:v>421095</c:v>
                </c:pt>
                <c:pt idx="9">
                  <c:v>434407</c:v>
                </c:pt>
                <c:pt idx="10">
                  <c:v>443579</c:v>
                </c:pt>
                <c:pt idx="11">
                  <c:v>495242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22-524B-A5A7-9B631D4D75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9350224"/>
        <c:axId val="959351872"/>
      </c:barChart>
      <c:catAx>
        <c:axId val="95935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1872"/>
        <c:crosses val="autoZero"/>
        <c:auto val="1"/>
        <c:lblAlgn val="ctr"/>
        <c:lblOffset val="100"/>
        <c:noMultiLvlLbl val="0"/>
      </c:catAx>
      <c:valAx>
        <c:axId val="95935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Increase in average loan amount</a:t>
            </a:r>
            <a:r>
              <a:rPr lang="en-US" baseline="0" dirty="0"/>
              <a:t> approved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904391616931239"/>
          <c:y val="0.26990081030580393"/>
          <c:w val="0.80704953874229324"/>
          <c:h val="0.55414983054872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Loans Approved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55-0447-9250-61EEF05B8DAE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455-0447-9250-61EEF05B8DA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455-0447-9250-61EEF05B8DAE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455-0447-9250-61EEF05B8DAE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455-0447-9250-61EEF05B8DAE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455-0447-9250-61EEF05B8DAE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455-0447-9250-61EEF05B8DAE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455-0447-9250-61EEF05B8D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Sheet1!$B$2:$B$13</c:f>
              <c:numCache>
                <c:formatCode>[$$-409]#.0,\K</c:formatCode>
                <c:ptCount val="12"/>
                <c:pt idx="0">
                  <c:v>8254.5190710000006</c:v>
                </c:pt>
                <c:pt idx="1">
                  <c:v>8825.4283329999998</c:v>
                </c:pt>
                <c:pt idx="2">
                  <c:v>9833.0335159999995</c:v>
                </c:pt>
                <c:pt idx="3">
                  <c:v>10528.240408</c:v>
                </c:pt>
                <c:pt idx="4">
                  <c:v>12047.503568</c:v>
                </c:pt>
                <c:pt idx="5">
                  <c:v>13461.709015</c:v>
                </c:pt>
                <c:pt idx="6">
                  <c:v>14707.413732999999</c:v>
                </c:pt>
                <c:pt idx="7">
                  <c:v>14870.156793</c:v>
                </c:pt>
                <c:pt idx="8">
                  <c:v>15240.285862000001</c:v>
                </c:pt>
                <c:pt idx="9">
                  <c:v>14734.039046</c:v>
                </c:pt>
                <c:pt idx="10">
                  <c:v>14845.060463</c:v>
                </c:pt>
                <c:pt idx="11">
                  <c:v>16025.020393999999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455-0447-9250-61EEF05B8DAE}"/>
            </c:ext>
          </c:extLst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455-0447-9250-61EEF05B8D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9350224"/>
        <c:axId val="959351872"/>
      </c:barChart>
      <c:catAx>
        <c:axId val="95935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1872"/>
        <c:crosses val="autoZero"/>
        <c:auto val="1"/>
        <c:lblAlgn val="ctr"/>
        <c:lblOffset val="100"/>
        <c:noMultiLvlLbl val="0"/>
      </c:catAx>
      <c:valAx>
        <c:axId val="95935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Decline</a:t>
            </a:r>
            <a:r>
              <a:rPr lang="en-US" baseline="0" dirty="0"/>
              <a:t> in approval rate across years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 Approval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7B-BA44-A919-F8093D69569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67B-BA44-A919-F8093D69569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67B-BA44-A919-F8093D69569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67B-BA44-A919-F8093D69569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67B-BA44-A919-F8093D69569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67B-BA44-A919-F8093D69569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67B-BA44-A919-F8093D6956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Sheet1!$B$2:$B$13</c:f>
              <c:numCache>
                <c:formatCode>0.0%</c:formatCode>
                <c:ptCount val="12"/>
                <c:pt idx="0">
                  <c:v>0.10260336906584992</c:v>
                </c:pt>
                <c:pt idx="1">
                  <c:v>8.5497874164850482E-2</c:v>
                </c:pt>
                <c:pt idx="2">
                  <c:v>8.4805369989722504E-2</c:v>
                </c:pt>
                <c:pt idx="3">
                  <c:v>0.10021742953524437</c:v>
                </c:pt>
                <c:pt idx="4">
                  <c:v>9.0688188115050125E-2</c:v>
                </c:pt>
                <c:pt idx="5">
                  <c:v>0.1366128751497527</c:v>
                </c:pt>
                <c:pt idx="6">
                  <c:v>0.15050303877395182</c:v>
                </c:pt>
                <c:pt idx="7">
                  <c:v>0.1086183792315504</c:v>
                </c:pt>
                <c:pt idx="8">
                  <c:v>0.12836407177743217</c:v>
                </c:pt>
                <c:pt idx="9">
                  <c:v>8.3471088513475733E-2</c:v>
                </c:pt>
                <c:pt idx="10">
                  <c:v>5.9023977164250639E-2</c:v>
                </c:pt>
                <c:pt idx="11">
                  <c:v>4.9563732032669255E-2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7B-BA44-A919-F8093D6956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9350224"/>
        <c:axId val="959351872"/>
      </c:barChart>
      <c:catAx>
        <c:axId val="95935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1872"/>
        <c:crosses val="autoZero"/>
        <c:auto val="1"/>
        <c:lblAlgn val="ctr"/>
        <c:lblOffset val="100"/>
        <c:noMultiLvlLbl val="0"/>
      </c:catAx>
      <c:valAx>
        <c:axId val="95935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Increase</a:t>
            </a:r>
            <a:r>
              <a:rPr lang="en-US" baseline="0" dirty="0"/>
              <a:t> in loan applications received each year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904391616931239"/>
          <c:y val="0.26990081030580393"/>
          <c:w val="0.80704953874229324"/>
          <c:h val="0.55414983054872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 Approval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21-6B49-84C9-4C9FAE34824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121-6B49-84C9-4C9FAE34824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21-6B49-84C9-4C9FAE34824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21-6B49-84C9-4C9FAE34824C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121-6B49-84C9-4C9FAE34824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121-6B49-84C9-4C9FAE34824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121-6B49-84C9-4C9FAE34824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121-6B49-84C9-4C9FAE3482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Sheet1!$B$2:$B$13</c:f>
              <c:numCache>
                <c:formatCode>#,##0_);[Red]\(#,##0\)</c:formatCode>
                <c:ptCount val="12"/>
                <c:pt idx="0">
                  <c:v>5877</c:v>
                </c:pt>
                <c:pt idx="1">
                  <c:v>27989</c:v>
                </c:pt>
                <c:pt idx="2">
                  <c:v>62272</c:v>
                </c:pt>
                <c:pt idx="3">
                  <c:v>125098</c:v>
                </c:pt>
                <c:pt idx="4">
                  <c:v>239513</c:v>
                </c:pt>
                <c:pt idx="5">
                  <c:v>390644</c:v>
                </c:pt>
                <c:pt idx="6">
                  <c:v>895756</c:v>
                </c:pt>
                <c:pt idx="7">
                  <c:v>2169329</c:v>
                </c:pt>
                <c:pt idx="8">
                  <c:v>3280474</c:v>
                </c:pt>
                <c:pt idx="9">
                  <c:v>5204281</c:v>
                </c:pt>
                <c:pt idx="10">
                  <c:v>7515234</c:v>
                </c:pt>
                <c:pt idx="11">
                  <c:v>9992024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121-6B49-84C9-4C9FAE3482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9350224"/>
        <c:axId val="959351872"/>
      </c:barChart>
      <c:catAx>
        <c:axId val="95935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1872"/>
        <c:crosses val="autoZero"/>
        <c:auto val="1"/>
        <c:lblAlgn val="ctr"/>
        <c:lblOffset val="100"/>
        <c:noMultiLvlLbl val="0"/>
      </c:catAx>
      <c:valAx>
        <c:axId val="95935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Volume of Approved loans</a:t>
            </a:r>
            <a:r>
              <a:rPr lang="en-US" sz="1800" baseline="0" dirty="0"/>
              <a:t> </a:t>
            </a:r>
            <a:r>
              <a:rPr lang="en-US" sz="1800" dirty="0"/>
              <a:t>had negligible growth</a:t>
            </a:r>
            <a:r>
              <a:rPr lang="en-US" sz="1800" baseline="0" dirty="0"/>
              <a:t> during 2016-2018</a:t>
            </a:r>
            <a:endParaRPr lang="en-US" sz="1800" dirty="0"/>
          </a:p>
        </c:rich>
      </c:tx>
      <c:layout>
        <c:manualLayout>
          <c:xMode val="edge"/>
          <c:yMode val="edge"/>
          <c:x val="0.138649483207497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291896823064036"/>
          <c:y val="0.24994156002339235"/>
          <c:w val="0.80704953874229324"/>
          <c:h val="0.55414983054872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Loans Approved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EF7-A04A-B319-DE8DBAE7EF8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F7-A04A-B319-DE8DBAE7EF8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EF7-A04A-B319-DE8DBAE7EF8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F7-A04A-B319-DE8DBAE7EF8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EF7-A04A-B319-DE8DBAE7EF8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F7-A04A-B319-DE8DBAE7EF8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F7-A04A-B319-DE8DBAE7EF8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F7-A04A-B319-DE8DBAE7EF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</c:numCache>
            </c:num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603</c:v>
                </c:pt>
                <c:pt idx="1">
                  <c:v>2393</c:v>
                </c:pt>
                <c:pt idx="2">
                  <c:v>5281</c:v>
                </c:pt>
                <c:pt idx="3">
                  <c:v>12537</c:v>
                </c:pt>
                <c:pt idx="4">
                  <c:v>21721</c:v>
                </c:pt>
                <c:pt idx="5">
                  <c:v>53367</c:v>
                </c:pt>
                <c:pt idx="6">
                  <c:v>134814</c:v>
                </c:pt>
                <c:pt idx="7">
                  <c:v>235629</c:v>
                </c:pt>
                <c:pt idx="8">
                  <c:v>421095</c:v>
                </c:pt>
                <c:pt idx="9">
                  <c:v>434407</c:v>
                </c:pt>
                <c:pt idx="10">
                  <c:v>443579</c:v>
                </c:pt>
                <c:pt idx="11">
                  <c:v>495242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F7-A04A-B319-DE8DBAE7EF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9350224"/>
        <c:axId val="959351872"/>
      </c:barChart>
      <c:catAx>
        <c:axId val="95935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1872"/>
        <c:crosses val="autoZero"/>
        <c:auto val="1"/>
        <c:lblAlgn val="ctr"/>
        <c:lblOffset val="100"/>
        <c:noMultiLvlLbl val="0"/>
      </c:catAx>
      <c:valAx>
        <c:axId val="95935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Hardship</a:t>
            </a:r>
            <a:r>
              <a:rPr lang="en-US" sz="1800" baseline="0" dirty="0"/>
              <a:t> Plan approvals of loans</a:t>
            </a:r>
            <a:endParaRPr lang="en-US" sz="1800" dirty="0"/>
          </a:p>
        </c:rich>
      </c:tx>
      <c:layout>
        <c:manualLayout>
          <c:xMode val="edge"/>
          <c:yMode val="edge"/>
          <c:x val="0.22696595875706368"/>
          <c:y val="1.68302499225852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291896823064036"/>
          <c:y val="0.24994156002339235"/>
          <c:w val="0.80704953874229324"/>
          <c:h val="0.55414983054872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Loans Approved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25400" cap="rnd">
                <a:solidFill>
                  <a:schemeClr val="accent1"/>
                </a:solidFill>
                <a:prstDash val="sysDot"/>
              </a:ln>
              <a:effectLst/>
            </c:spPr>
            <c:trendlineType val="movingAvg"/>
            <c:period val="3"/>
            <c:dispRSqr val="0"/>
            <c:dispEq val="0"/>
          </c:trendline>
          <c:cat>
            <c:numRef>
              <c:f>Sheet1!$A$2:$A$8</c:f>
              <c:numCache>
                <c:formatCode>General</c:formatCode>
                <c:ptCount val="7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75</c:v>
                </c:pt>
                <c:pt idx="2">
                  <c:v>503</c:v>
                </c:pt>
                <c:pt idx="3">
                  <c:v>2580</c:v>
                </c:pt>
                <c:pt idx="4">
                  <c:v>4489</c:v>
                </c:pt>
                <c:pt idx="5">
                  <c:v>2897</c:v>
                </c:pt>
                <c:pt idx="6">
                  <c:v>368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3B7-3146-824A-62025F1B1F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9350224"/>
        <c:axId val="959351872"/>
      </c:barChart>
      <c:catAx>
        <c:axId val="95935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1872"/>
        <c:crosses val="autoZero"/>
        <c:auto val="1"/>
        <c:lblAlgn val="ctr"/>
        <c:lblOffset val="100"/>
        <c:noMultiLvlLbl val="0"/>
      </c:catAx>
      <c:valAx>
        <c:axId val="95935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5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58C59-A3A4-3645-9221-C86F11F2CB45}" type="datetimeFigureOut">
              <a:rPr lang="en-US" smtClean="0"/>
              <a:t>3/17/21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40A13-1E1F-6740-B1F6-3CF61023A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5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F720-EC00-894A-B9C0-BA34CEC1B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C4AFD-4141-8844-A113-3A9F5D6F9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9DEB-BC55-B94F-8D92-C59AFAF1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D21D-ABAE-764B-AAE9-07A5791AFB9E}" type="datetime1">
              <a:rPr lang="en-IN" smtClean="0"/>
              <a:t>17/03/21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37487-8D30-A046-8B75-5FEF221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17236-C380-1549-821F-F87AFC0D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7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7237-2109-FC41-9C33-7E513AB0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5DA6C-C3C5-9046-A201-D1A3A20AA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88853-DA7E-834B-A31A-119BBA61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ADEE-0B1C-A341-88AE-5F7F2E41F74E}" type="datetime1">
              <a:rPr lang="en-IN" smtClean="0"/>
              <a:t>17/03/21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E813D-19C0-3E46-9CE0-DC034665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2063D-2EB7-EF42-972E-1526A226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15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9E8A-47C9-8540-8991-144BE2CE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A2AF6-FA7F-3B4F-B739-6286D6014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D132E-084C-DA4A-97E9-0568CC39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1662-0EC6-3442-BF2C-97768C63661F}" type="datetime1">
              <a:rPr lang="en-IN" smtClean="0"/>
              <a:t>17/03/21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FC68F-F128-6D49-9D2B-B6BF3AEC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14F0E-78A2-EC4F-B784-5A8AD133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98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18EE-24AB-3B49-98FD-B3A83387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6B9A-9F42-0745-B1D8-CE0281689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5C5A-C6DB-DF40-A0BF-873C44BA9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2B287-4CA8-C64A-B407-ECE5E1E3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EBCEC-9790-6346-9505-32329AAB0E57}" type="datetime1">
              <a:rPr lang="en-IN" smtClean="0"/>
              <a:t>17/03/21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F7305-F6A5-E146-9FE9-29AA7143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8EB1B-9908-0541-AB0A-4342B1BB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0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9564-6E88-B94D-B7F7-A352A3A2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DECB5-3DC8-D24E-B395-AF2835409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47622-729D-7246-8AD1-402E7E1C5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2AB0F-F070-534D-8458-F7BF95A11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DF1B5-9278-064B-A98F-940E043CB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39A51-1970-A248-BEC0-7F3FF285A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6DC1-EC64-F54A-8993-55B88B34C47D}" type="datetime1">
              <a:rPr lang="en-IN" smtClean="0"/>
              <a:t>17/03/21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C86ED-255A-D84D-90BA-74130C34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B5AE3-0654-314C-8095-7CAE769E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0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2306-3399-CB40-B7B7-75015913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16F75-93B4-AD43-841B-F347C5D5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BF6-55A5-6C4F-A88C-29E3E5E2A6CF}" type="datetime1">
              <a:rPr lang="en-IN" smtClean="0"/>
              <a:t>17/03/21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982B0-3696-C34E-B041-1A61CD51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D82F6-54AF-B942-9DB8-5CB19F55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69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376C7-EFB1-3740-9BEB-C4648347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2654D-9BB0-B845-9D7C-4675FB50CA1A}" type="datetime1">
              <a:rPr lang="en-IN" smtClean="0"/>
              <a:t>17/03/21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C75D6-5CEB-B842-B708-3956F098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40464-6E9E-C848-A159-5C98706B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6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62E2-22A1-A047-B1CA-1B247A4F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61003-2888-F443-A5C8-9329A0128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3EC1C-D8CC-DF42-A1AA-D3EFD201C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92BB8-B852-CF4C-AE75-23B2B7D3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3179-118E-9843-91B2-E06CB7CDDBF2}" type="datetime1">
              <a:rPr lang="en-IN" smtClean="0"/>
              <a:t>17/03/21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FD048-390D-0F44-B4C2-60AF0FE49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2F30E-3DE8-1B4F-A15A-5E06A4D8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92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C432-E6BE-B94E-ADB1-09019D202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E5FCD-224B-E744-A83F-8AA20FBB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10287-7C34-FF43-8E28-0DA36598D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DF146-554E-CD49-BD48-DFE8B55A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2B3D-B69A-F049-AE4D-9178342FBFA4}" type="datetime1">
              <a:rPr lang="en-IN" smtClean="0"/>
              <a:t>17/03/21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D5B0A-D2B2-E441-94A6-B0962ACD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3FBB2-BFE6-4D4D-9609-431793E6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4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008D-552B-234D-9A2D-518E6950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356E0-4A7A-7049-AB1B-AF808070B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FBBFB-2C45-0E40-A05B-69B404D2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8218-EA40-F94E-A770-18CA39124444}" type="datetime1">
              <a:rPr lang="en-IN" smtClean="0"/>
              <a:t>17/03/21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C2235-C19C-6940-A3CE-BAB6C5A4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A6633-A967-EE4A-ABD0-0F66F4AC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42A80F-80A9-9F46-AE20-A492E8DB0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79FD7-00ED-A449-ACB9-EF9ED3ADF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4B385-5FAA-5740-96FE-69D81C73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A1A1-30C5-2740-93AF-399EF408951E}" type="datetime1">
              <a:rPr lang="en-IN" smtClean="0"/>
              <a:t>17/03/21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37C69-ED4D-864B-9F75-27E05BF4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CE167-F346-EB44-8036-DA7C442F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6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39D14-A56A-394D-B2B1-A1A5E107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48BBB-EA11-0B44-BB3F-EA9DC6228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E30A5-C310-924A-962F-1BC0FDB05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4A85D-7CFC-C342-B645-51F7D610598F}" type="datetime1">
              <a:rPr lang="en-IN" smtClean="0"/>
              <a:t>17/03/21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FF8AE-4D2B-3E4F-93E9-D067211B3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Abhinay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450C7-37A4-4545-B90D-0A0E8F28A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735F7-20AE-1944-B6F1-5D872BF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4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bhinaykdn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180F-32D6-FA4B-A1D7-A4156AE86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Assessment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C41FD-051A-B74D-A180-EF89DB484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Lending Club Dataset</a:t>
            </a:r>
          </a:p>
          <a:p>
            <a:endParaRPr lang="en-US" dirty="0"/>
          </a:p>
          <a:p>
            <a:r>
              <a:rPr lang="en-US" sz="1800" b="1" dirty="0" err="1"/>
              <a:t>Abhinay</a:t>
            </a:r>
            <a:r>
              <a:rPr lang="en-US" sz="1800" b="1" dirty="0"/>
              <a:t> Kumar</a:t>
            </a:r>
          </a:p>
          <a:p>
            <a:r>
              <a:rPr lang="en-US" sz="1800" dirty="0">
                <a:hlinkClick r:id="rId2"/>
              </a:rPr>
              <a:t>abhinaykdn1@gmail.com</a:t>
            </a:r>
            <a:r>
              <a:rPr lang="en-US" sz="1800" dirty="0"/>
              <a:t> | +91-8756751942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823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F091-E918-A84A-A746-1E13595A2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567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Financial and Employment History determined the loan approvals of borrowers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3EED4-C32F-544D-B2CE-53F70C94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AF663-6183-7F46-8AE2-A2573C43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16FBB07-5C0E-714A-9590-C42A3B80A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03412"/>
              </p:ext>
            </p:extLst>
          </p:nvPr>
        </p:nvGraphicFramePr>
        <p:xfrm>
          <a:off x="1632743" y="2128828"/>
          <a:ext cx="8926514" cy="3829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8621">
                  <a:extLst>
                    <a:ext uri="{9D8B030D-6E8A-4147-A177-3AD203B41FA5}">
                      <a16:colId xmlns:a16="http://schemas.microsoft.com/office/drawing/2014/main" val="489677556"/>
                    </a:ext>
                  </a:extLst>
                </a:gridCol>
                <a:gridCol w="4737893">
                  <a:extLst>
                    <a:ext uri="{9D8B030D-6E8A-4147-A177-3AD203B41FA5}">
                      <a16:colId xmlns:a16="http://schemas.microsoft.com/office/drawing/2014/main" val="4057693566"/>
                    </a:ext>
                  </a:extLst>
                </a:gridCol>
              </a:tblGrid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Borrower’s Historical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 on Loan Acceptance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553543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Debt To Income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ratios favored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063002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Employment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experience, preferably &gt;5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010053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Annual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Annual 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63402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Joint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mitigate individual charge-off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53573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Home Ownerships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Rent, Mortgage or Ownerships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528110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Annual Income &amp; Source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Independent verifiability by LC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261204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r>
                        <a:rPr lang="en-US" dirty="0"/>
                        <a:t>FICO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LC assigned FICO Credit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74556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F3E6D7B-913B-3848-9314-F8FC5FD42FCA}"/>
              </a:ext>
            </a:extLst>
          </p:cNvPr>
          <p:cNvSpPr txBox="1"/>
          <p:nvPr/>
        </p:nvSpPr>
        <p:spPr>
          <a:xfrm>
            <a:off x="1657352" y="1628776"/>
            <a:ext cx="8858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Some of the top Borrower’s features that led to approval of Loan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7919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F091-E918-A84A-A746-1E13595A2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567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Significant changes in Approval process took place over the years to mitigate possible charge off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960EF-0949-D84F-9544-5D7CB38B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4" y="4788479"/>
            <a:ext cx="10610849" cy="1582159"/>
          </a:xfrm>
        </p:spPr>
        <p:txBody>
          <a:bodyPr lIns="90000" tIns="90000" bIns="90000">
            <a:noAutofit/>
          </a:bodyPr>
          <a:lstStyle/>
          <a:p>
            <a:r>
              <a:rPr lang="en-US" sz="2400" dirty="0"/>
              <a:t>Additionally, there has been an increase in approval ratio for Mortgage and House owners over the years</a:t>
            </a:r>
          </a:p>
          <a:p>
            <a:pPr marL="0" indent="0">
              <a:buNone/>
            </a:pPr>
            <a:r>
              <a:rPr lang="en-US" sz="2400" i="1" dirty="0"/>
              <a:t>All this points towards an attempted refined approval process to ensure minimum amount of charge offs on the allocated loans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3EED4-C32F-544D-B2CE-53F70C94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Abhinay</a:t>
            </a:r>
            <a:r>
              <a:rPr lang="en-US" dirty="0"/>
              <a:t>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AF663-6183-7F46-8AE2-A2573C43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B7BA0E9-90B4-114B-B01D-CC40A621D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143528"/>
              </p:ext>
            </p:extLst>
          </p:nvPr>
        </p:nvGraphicFramePr>
        <p:xfrm>
          <a:off x="5053011" y="1667167"/>
          <a:ext cx="6534151" cy="2675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C7995D-FE16-4344-A7BC-AE7A530C4F84}"/>
              </a:ext>
            </a:extLst>
          </p:cNvPr>
          <p:cNvSpPr txBox="1"/>
          <p:nvPr/>
        </p:nvSpPr>
        <p:spPr>
          <a:xfrm>
            <a:off x="328613" y="1933016"/>
            <a:ext cx="40147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Increase in </a:t>
            </a:r>
            <a:r>
              <a:rPr lang="en-US" sz="2400" i="1" dirty="0"/>
              <a:t>income &amp; source verifications</a:t>
            </a:r>
            <a:r>
              <a:rPr lang="en-US" sz="2400" dirty="0"/>
              <a:t> across the years, especially after 2012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Introduction of provision for </a:t>
            </a:r>
            <a:r>
              <a:rPr lang="en-US" sz="2400" i="1" dirty="0"/>
              <a:t>joint applications</a:t>
            </a:r>
            <a:r>
              <a:rPr lang="en-US" sz="2400" dirty="0"/>
              <a:t> after 2016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63CC3-04F0-C642-9C6F-956A3A4B9223}"/>
              </a:ext>
            </a:extLst>
          </p:cNvPr>
          <p:cNvSpPr txBox="1"/>
          <p:nvPr/>
        </p:nvSpPr>
        <p:spPr>
          <a:xfrm>
            <a:off x="5500672" y="4197177"/>
            <a:ext cx="6184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/>
              <a:t>Inspite</a:t>
            </a:r>
            <a:r>
              <a:rPr lang="en-US" sz="1400" i="1" dirty="0"/>
              <a:t> of an increased tolerance for debt-to-income ratio for approved loans; it remains well below the conventional maximum value of ~43%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07C993A-61F0-F946-AE8B-EEE945F16DF8}"/>
              </a:ext>
            </a:extLst>
          </p:cNvPr>
          <p:cNvSpPr/>
          <p:nvPr/>
        </p:nvSpPr>
        <p:spPr>
          <a:xfrm>
            <a:off x="4371982" y="2000249"/>
            <a:ext cx="685796" cy="2256722"/>
          </a:xfrm>
          <a:prstGeom prst="rightBrace">
            <a:avLst>
              <a:gd name="adj1" fmla="val 8333"/>
              <a:gd name="adj2" fmla="val 487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2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62DCC-FFA4-1345-A16C-DD02FAF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A17E5-C515-0149-A52F-728B425A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E63C47-FDA8-EF43-B9D4-0C35D1AB3DF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356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Overall Business of Lending Club grew over time, with increasing borrowers and higher value loans being borrowed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AB9D642-79C6-BD49-A16E-50EFEC09D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1792975"/>
              </p:ext>
            </p:extLst>
          </p:nvPr>
        </p:nvGraphicFramePr>
        <p:xfrm>
          <a:off x="19049" y="1735733"/>
          <a:ext cx="5724526" cy="207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4A691F3-34C3-BA4F-9AAE-CC5E3D4C7B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733324"/>
              </p:ext>
            </p:extLst>
          </p:nvPr>
        </p:nvGraphicFramePr>
        <p:xfrm>
          <a:off x="6319839" y="1735733"/>
          <a:ext cx="5724526" cy="207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Plus 9">
            <a:extLst>
              <a:ext uri="{FF2B5EF4-FFF2-40B4-BE49-F238E27FC236}">
                <a16:creationId xmlns:a16="http://schemas.microsoft.com/office/drawing/2014/main" id="{40CDAB97-73D8-1244-AC26-3793949B105D}"/>
              </a:ext>
            </a:extLst>
          </p:cNvPr>
          <p:cNvSpPr/>
          <p:nvPr/>
        </p:nvSpPr>
        <p:spPr>
          <a:xfrm>
            <a:off x="5872162" y="2643187"/>
            <a:ext cx="609601" cy="55721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AE8E88E-1275-5D4A-8352-970F7908D1CE}"/>
              </a:ext>
            </a:extLst>
          </p:cNvPr>
          <p:cNvSpPr txBox="1">
            <a:spLocks/>
          </p:cNvSpPr>
          <p:nvPr/>
        </p:nvSpPr>
        <p:spPr>
          <a:xfrm>
            <a:off x="611981" y="4784129"/>
            <a:ext cx="11129961" cy="88800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Both these factors have contributed to rise in $ value of loan sanctions from </a:t>
            </a:r>
            <a:r>
              <a:rPr lang="en-US" b="1" dirty="0"/>
              <a:t>~$5M in 2007</a:t>
            </a:r>
            <a:r>
              <a:rPr lang="en-US" dirty="0"/>
              <a:t> to </a:t>
            </a:r>
            <a:r>
              <a:rPr lang="en-US" b="1" dirty="0"/>
              <a:t>~$8B in 2018</a:t>
            </a:r>
          </a:p>
          <a:p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085B19-95E9-3C45-B7F2-1394F9552053}"/>
              </a:ext>
            </a:extLst>
          </p:cNvPr>
          <p:cNvCxnSpPr>
            <a:cxnSpLocks/>
          </p:cNvCxnSpPr>
          <p:nvPr/>
        </p:nvCxnSpPr>
        <p:spPr>
          <a:xfrm>
            <a:off x="3314700" y="3807420"/>
            <a:ext cx="1500188" cy="9217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D91FC1-4B8E-0D42-B28F-FB3D890003D9}"/>
              </a:ext>
            </a:extLst>
          </p:cNvPr>
          <p:cNvCxnSpPr>
            <a:cxnSpLocks/>
          </p:cNvCxnSpPr>
          <p:nvPr/>
        </p:nvCxnSpPr>
        <p:spPr>
          <a:xfrm flipH="1">
            <a:off x="7110412" y="3807419"/>
            <a:ext cx="1500188" cy="9217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77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3721-2BE1-0E44-BAA3-BA0251CC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55" y="5014914"/>
            <a:ext cx="11701463" cy="69847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/>
              <a:t>Loan Approval rate dropped below 10% during 2016-2018,</a:t>
            </a:r>
            <a:br>
              <a:rPr lang="en-US" sz="2400" dirty="0"/>
            </a:br>
            <a:r>
              <a:rPr lang="en-US" sz="2400" dirty="0"/>
              <a:t>though there has been an exponential rise in loan applications during that same period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675C7-1AA0-6148-9784-69ADF7A8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277DC-A71C-3C40-A2E5-F3FC4385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341E2F-B9BC-1045-B35A-7F9285742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5675"/>
          </a:xfrm>
          <a:solidFill>
            <a:schemeClr val="accent1">
              <a:lumMod val="5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Loan Approval process has grown stringent through the years, </a:t>
            </a:r>
            <a:b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especially after 2015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C46EB49-1C22-8C40-88D8-890C343561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7568617"/>
              </p:ext>
            </p:extLst>
          </p:nvPr>
        </p:nvGraphicFramePr>
        <p:xfrm>
          <a:off x="6356348" y="2085976"/>
          <a:ext cx="5559427" cy="2597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182917A-1539-9C4B-9035-D45D1B532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718396"/>
              </p:ext>
            </p:extLst>
          </p:nvPr>
        </p:nvGraphicFramePr>
        <p:xfrm>
          <a:off x="252412" y="2085976"/>
          <a:ext cx="5843588" cy="2597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Curved Down Arrow 10">
            <a:extLst>
              <a:ext uri="{FF2B5EF4-FFF2-40B4-BE49-F238E27FC236}">
                <a16:creationId xmlns:a16="http://schemas.microsoft.com/office/drawing/2014/main" id="{63B5E2F5-53B7-FF47-B53B-92B02D11F28B}"/>
              </a:ext>
            </a:extLst>
          </p:cNvPr>
          <p:cNvSpPr/>
          <p:nvPr/>
        </p:nvSpPr>
        <p:spPr>
          <a:xfrm>
            <a:off x="5363371" y="1561442"/>
            <a:ext cx="1885950" cy="51890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DDA54B-C616-5C42-A4B9-CEC63177BE33}"/>
              </a:ext>
            </a:extLst>
          </p:cNvPr>
          <p:cNvCxnSpPr>
            <a:cxnSpLocks/>
          </p:cNvCxnSpPr>
          <p:nvPr/>
        </p:nvCxnSpPr>
        <p:spPr>
          <a:xfrm>
            <a:off x="10382256" y="2577945"/>
            <a:ext cx="1547812" cy="97964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24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3E7F0-37BB-F946-97E5-EFBCD20EC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864" y="1526967"/>
            <a:ext cx="5948361" cy="24735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Changes post 2016 crisis 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i="1" u="sng" dirty="0"/>
              <a:t>Joint Applications </a:t>
            </a:r>
            <a:r>
              <a:rPr lang="en-US" sz="1800" dirty="0"/>
              <a:t>were introduced and were </a:t>
            </a:r>
            <a:r>
              <a:rPr lang="en-US" sz="1800" b="1" dirty="0"/>
              <a:t>~5%</a:t>
            </a:r>
            <a:r>
              <a:rPr lang="en-US" sz="1800" dirty="0"/>
              <a:t> of the total approvals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i="1" u="sng" dirty="0" err="1"/>
              <a:t>DirectPay</a:t>
            </a:r>
            <a:r>
              <a:rPr lang="en-US" sz="1800" dirty="0"/>
              <a:t> was introduced in 2016 as an alternative to Cash payments and contributed to </a:t>
            </a:r>
            <a:r>
              <a:rPr lang="en-US" sz="1800" b="1" dirty="0"/>
              <a:t>~6% </a:t>
            </a:r>
            <a:r>
              <a:rPr lang="en-US" sz="1800" dirty="0"/>
              <a:t>of total transactions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Approval Rate for borrowers with </a:t>
            </a:r>
            <a:r>
              <a:rPr lang="en-US" sz="1800" i="1" u="sng" dirty="0"/>
              <a:t>less than 6 years of experience</a:t>
            </a:r>
            <a:r>
              <a:rPr lang="en-US" sz="1800" dirty="0"/>
              <a:t> decreased from 36% before 2016 to </a:t>
            </a:r>
            <a:r>
              <a:rPr lang="en-US" sz="1800" b="1" dirty="0"/>
              <a:t>17% post 2016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209D1-9316-7040-80CF-E66A10D4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Abhinay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3FA29-25B5-2048-9D4B-7C7A8902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35F7-20AE-1944-B6F1-5D872BFECDFD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64D42CC-3FC1-284C-BA60-A24556A3D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5675"/>
          </a:xfrm>
          <a:solidFill>
            <a:schemeClr val="accent1">
              <a:lumMod val="5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2016 crisis halted the exponential progress of loan approvals and led to some subsequent policy changes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8CCD15A-9E1F-CD4C-90FC-736F6900F8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6223826"/>
              </p:ext>
            </p:extLst>
          </p:nvPr>
        </p:nvGraphicFramePr>
        <p:xfrm>
          <a:off x="357187" y="1458910"/>
          <a:ext cx="5176838" cy="2913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2955169-F03D-6E49-AB23-8FF9D8D21E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432678"/>
              </p:ext>
            </p:extLst>
          </p:nvPr>
        </p:nvGraphicFramePr>
        <p:xfrm>
          <a:off x="440512" y="4171951"/>
          <a:ext cx="5176838" cy="2227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51DF9B-3963-784F-92F3-AFB514F55563}"/>
              </a:ext>
            </a:extLst>
          </p:cNvPr>
          <p:cNvCxnSpPr/>
          <p:nvPr/>
        </p:nvCxnSpPr>
        <p:spPr>
          <a:xfrm>
            <a:off x="0" y="4143375"/>
            <a:ext cx="120872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84D3266-B4CD-B74D-9741-F8561EABE3F9}"/>
              </a:ext>
            </a:extLst>
          </p:cNvPr>
          <p:cNvSpPr txBox="1">
            <a:spLocks/>
          </p:cNvSpPr>
          <p:nvPr/>
        </p:nvSpPr>
        <p:spPr>
          <a:xfrm>
            <a:off x="6000748" y="5043500"/>
            <a:ext cx="6043613" cy="9286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The exponential increase in Hardship plan approvals (in line with the overall loan approval increase) was halted post 2016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514350" indent="-514350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8937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441</Words>
  <Application>Microsoft Macintosh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Assessment Problem</vt:lpstr>
      <vt:lpstr>Financial and Employment History determined the loan approvals of borrowers</vt:lpstr>
      <vt:lpstr>Significant changes in Approval process took place over the years to mitigate possible charge off risks</vt:lpstr>
      <vt:lpstr>PowerPoint Presentation</vt:lpstr>
      <vt:lpstr>Loan Approval process has grown stringent through the years,  especially after 2015</vt:lpstr>
      <vt:lpstr>2016 crisis halted the exponential progress of loan approvals and led to some subsequent policy changes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Problem</dc:title>
  <dc:creator>Abhinay Kumar</dc:creator>
  <cp:lastModifiedBy>Abhinay Kumar</cp:lastModifiedBy>
  <cp:revision>43</cp:revision>
  <dcterms:created xsi:type="dcterms:W3CDTF">2021-03-17T16:29:56Z</dcterms:created>
  <dcterms:modified xsi:type="dcterms:W3CDTF">2021-03-19T07:39:12Z</dcterms:modified>
</cp:coreProperties>
</file>